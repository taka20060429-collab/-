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2487168"/>
            <a:ext cx="2011680" cy="50800"/>
          </a:xfrm>
          <a:prstGeom prst="rect">
            <a:avLst/>
          </a:prstGeom>
          <a:solidFill>
            <a:srgbClr val="1F7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2487168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AEC4E0"/>
                </a:solidFill>
                <a:latin typeface="Meiryo"/>
              </a:rPr>
              <a:t>電子回路 実験レポート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</a:rPr>
              <a:t>受動部品の種類と製作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CBD7E8"/>
                </a:solidFill>
                <a:latin typeface="Meiryo"/>
              </a:rPr>
              <a:t>― 抵抗器・コンデンサ・インダクタの自作と特性評価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CBD7E8"/>
                </a:solidFill>
                <a:latin typeface="Meiryo"/>
              </a:rPr>
              <a:t>氏名：【要記入】　　学籍番号：【要記入】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CBD7E8"/>
                </a:solidFill>
                <a:latin typeface="Meiryo"/>
              </a:rPr>
              <a:t>実験日：2026年6月10日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実験の目的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1">
                <a:solidFill>
                  <a:srgbClr val="1F355E"/>
                </a:solidFill>
                <a:latin typeface="Meiryo"/>
              </a:rPr>
              <a:t>■ 電気回路の基本素子である「抵抗器 R」「コンデンサ C」「インダクタ L」について理解を深める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1">
                <a:solidFill>
                  <a:srgbClr val="1F355E"/>
                </a:solidFill>
                <a:latin typeface="Meiryo"/>
              </a:rPr>
              <a:t>■ 3 種類の受動部品を実際に製作し、どのような特性のものが実現できるかを調べる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1">
                <a:solidFill>
                  <a:srgbClr val="1F355E"/>
                </a:solidFill>
                <a:latin typeface="Meiryo"/>
              </a:rPr>
              <a:t>■ 製作物の値を テスタ／LCRメータ で測定し、理論値・設計意図と比較・考察する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555555"/>
                </a:solidFill>
                <a:latin typeface="Meiryo"/>
              </a:rPr>
              <a:t>■ 本レポートで扱う 3 つの製作実験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C0392B"/>
                </a:solidFill>
                <a:latin typeface="Meiryo"/>
              </a:rPr>
              <a:t>・ 実験1：抵抗器（鉛筆抵抗・マンガニン線抵抗）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1F7799"/>
                </a:solidFill>
                <a:latin typeface="Meiryo"/>
              </a:rPr>
              <a:t>・ 実験2：コンデンサ（アルミ箔＋グラフ用紙）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E7D32"/>
                </a:solidFill>
                <a:latin typeface="Meiryo"/>
              </a:rPr>
              <a:t>・ 実験3：インダクタ（ボビンコイル・トロイダルコア）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受動部品の全体像と測定機器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56616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抵抗器 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Meiryo"/>
              </a:rPr>
              <a:t>Ω（オーム）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・電流を制限・分圧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・V = R I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・カラーコードで読む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566160" cy="640080"/>
          </a:xfrm>
          <a:prstGeom prst="rect">
            <a:avLst/>
          </a:prstGeom>
          <a:solidFill>
            <a:srgbClr val="1F7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37160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コンデンサ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011680"/>
            <a:ext cx="356616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19456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F7799"/>
                </a:solidFill>
                <a:latin typeface="Meiryo"/>
              </a:rPr>
              <a:t>F（ファラッド）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・電荷を蓄える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・C = εS/d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・μF・pF を多用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371600"/>
            <a:ext cx="356616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137160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インダクタ 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2011680"/>
            <a:ext cx="356616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2E7D32"/>
                </a:solidFill>
                <a:latin typeface="Meiryo"/>
              </a:rPr>
              <a:t>H（ヘンリー）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・磁束を蓄える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・L = K·D²N²×10⁻⁷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Meiryo"/>
              </a:rPr>
              <a:t>・巻数で調整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1F355E"/>
                </a:solidFill>
                <a:latin typeface="Meiryo"/>
              </a:rPr>
              <a:t>測定機器：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・テスタ … 抵抗値の測定　　・LCRメータ（1kHz）… 容量・インダクタンスの測定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eiryo"/>
              </a:rPr>
              <a:t>・LCRメータはプローブの浮遊インダクタンスを測り、実測値から差し引いて真の値とする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1 / RESISTOR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実験1：抵抗器の製作 ―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Meiryo"/>
              </a:rPr>
              <a:t>■ (a) 鉛筆抵抗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厚紙上に鉛筆（4B以上）で 20mm×5mm の長方形を描き、塗りつぶす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両端の抵抗値をテスタで測定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Meiryo"/>
              </a:rPr>
              <a:t>■ (b) マンガニン線抵抗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マンガニン線をベークライト棒に巻き付け、両端をハンダで固定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線同士をクロスさせないよう注意し、抵抗値をテスタで測定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</a:rPr>
              <a:t>使用器具：テスタ・工具一式・厚紙・ベークライト棒・クリップ×2・鉛筆・マンガニン線1m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1 / RESISTOR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実験1：抵抗器の製作 ― 結果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194560"/>
              </a:tblGrid>
              <a:tr h="62179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製作物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測定値 [Ω]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鉛筆抵抗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20mm×5mm（標準）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鉛筆抵抗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濃く厚塗り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鉛筆抵抗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薄く / 細く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マンガニン線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巻数 ○ 回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554480"/>
            <a:ext cx="3291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Meiryo"/>
              </a:rPr>
              <a:t>観察ポイント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・塗り方で抵抗が大きく変化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・線抵抗は値が安定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・接触の取り方で値がぶれる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6858000" cy="45720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16752"/>
            <a:ext cx="6583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8A6D00"/>
                </a:solidFill>
                <a:latin typeface="Meiryo"/>
              </a:rPr>
              <a:t>【要記入】実測値をここに差し込み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1 /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実験1：考察 ― 高抵抗・低抵抗をどう作るか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Meiryo"/>
              </a:rPr>
              <a:t>■ 鉛筆抵抗：高抵抗にするには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塗る領域を「細く・長く」する（断面積 S を小さく、長さ L を大きく：R = ρL/S）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薄く塗る（黒鉛層を薄くして実効断面積を減らす）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Meiryo"/>
              </a:rPr>
              <a:t>■ 鉛筆抵抗：低抵抗にするには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濃く・厚く・幅広に塗り、何度も重ね塗りして黒鉛をつなげる（S を大きく、L を短く）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C0392B"/>
                </a:solidFill>
                <a:latin typeface="Meiryo"/>
              </a:rPr>
              <a:t>■ マンガニン線抵抗の特徴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抵抗温度係数が小さく値が安定。巻数・線長で抵抗値を設計できるが、鉛筆より低抵抗になりやすい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1F355E"/>
                </a:solidFill>
                <a:latin typeface="Meiryo"/>
              </a:rPr>
              <a:t>→ 抵抗値は材料の抵抗率 ρ と形状（長さ L・断面積 S）で決まる、という基本を実感できた【データで補強】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2 / CAPACITOR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実験2：コンデンサの製作 ―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アルミ箔5枚を重ね、端から1cmをホチキスで縦どめ。端に導線もホチキス留め（被膜は紙ヤスリで除去）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同じものを2組作る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アルミ箔とグラフ用紙をサンドイッチ状に重ねる（誘電体＝紙）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2本の導線間の抵抗をテスタで測り、2組のアルミ箔が短絡していないことを確認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のり巻き状に巻き込み、セロテープで固定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LCRメータで周波数1kHzの容量 C を測定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1F7799"/>
                </a:solidFill>
                <a:latin typeface="Meiryo"/>
              </a:rPr>
              <a:t>C = ε·S/d　（ε=ε₀εᵣ, ε₀=8.854×10⁻¹² F/m, S:電極面積, d:電極間隔）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  <a:latin typeface="Meiryo"/>
              </a:rPr>
              <a:t>使用器具：テスタ・LCRメータ・ホチキス・銅線・アルミ箔(100×100mm)10枚・グラフ用紙10枚 ほか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2 / CAPACITOR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実験2：コンデンサの製作 ― 結果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560320"/>
              </a:tblGrid>
              <a:tr h="57476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F77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値</a:t>
                      </a:r>
                    </a:p>
                  </a:txBody>
                  <a:tcPr>
                    <a:solidFill>
                      <a:srgbClr val="1F779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電極面積 S [m²]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電極間隔 d（紙厚）[m]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比誘電率 εᵣ（紙, 約2〜4）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理論値 C = εS/d [F]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測定値 C（1kHz）[F]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導線間抵抗（短絡確認）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23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F7799"/>
                </a:solidFill>
                <a:latin typeface="Meiryo"/>
              </a:rPr>
              <a:t>チェック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・理論値と測定値の比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・巻きの密着度で d が変動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・端の浮きが容量低下要因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6858000" cy="45720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16752"/>
            <a:ext cx="6583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8A6D00"/>
                </a:solidFill>
                <a:latin typeface="Meiryo"/>
              </a:rPr>
              <a:t>【要記入】実測値をここに差し込み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2 /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実験2：考察 ― 容量の増減と製作の難所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1F7799"/>
                </a:solidFill>
                <a:latin typeface="Meiryo"/>
              </a:rPr>
              <a:t>■ 容量を大きくするには（C = εS/d より）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電極面積 S を大きく（箔を大きく・枚数を増やす・巻き数を増やす）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電極間隔 d を小さく（誘電体の紙を薄く、強く密着させて巻く）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誘電率 ε の高い誘電体を使う（εᵣ の大きい材料に替える）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1F7799"/>
                </a:solidFill>
                <a:latin typeface="Meiryo"/>
              </a:rPr>
              <a:t>■ 容量を小さくするには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S を小さく、d を大きく、εᵣ の小さい誘電体にする（上記の逆）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1F7799"/>
                </a:solidFill>
                <a:latin typeface="Meiryo"/>
              </a:rPr>
              <a:t>■ 製作で大変だった点（記入候補）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アルミ箔同士を短絡させずに均一な間隔で巻くこと／端のずれ・浮きの防止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1F355E"/>
                </a:solidFill>
                <a:latin typeface="Meiryo"/>
              </a:rPr>
              <a:t>→ 測定値が理論値より小さい場合、巻きの緩み＝d 増大や箔のしわが原因と考えられる【データで検証】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3 / INDUCTOR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実験3-1：インダクタの製作 ― 方法（ボビンコイル）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エナメル線の端を5cm出してボビン端をセロテープで固定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ボビンにエナメル線を単層密着で20回巻く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反対側も5cm出して固定し、両端を紙ヤスリで磨きエナメルを除去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■ LCRメータ（1kHz）でインダクタンス L を測定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2E7D32"/>
                </a:solidFill>
                <a:latin typeface="Meiryo"/>
              </a:rPr>
              <a:t>理論式（ソレノイド）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  <a:latin typeface="Meiryo"/>
              </a:rPr>
              <a:t>L = K · D²N² × 10⁻⁷　　K = 1 / { 1 + 0.45(D/ℓ) + 0.005(D/ℓ)² }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eiryo"/>
              </a:rPr>
              <a:t>D：ボビン外径,　N：巻数,　ℓ：ソレノイド長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  <a:latin typeface="Meiryo"/>
              </a:rPr>
              <a:t>使用器具：ボビン(8φ)・トロイダルフェライトコア・エナメル線(0.5φ,80cm)・塩ビ線・LCRメータ ほか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3 / INDUCTOR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実験3-1：結果 ― 理論値 vs 測定値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6583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560320"/>
              </a:tblGrid>
              <a:tr h="53721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値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外径 D [m]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巻数 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ソレノイド長 ℓ [m]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係数 K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理論値 L [H]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測定値 L（1kHz）[H]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誤差 [%]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17320"/>
            <a:ext cx="4023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Meiryo"/>
              </a:rPr>
              <a:t>メモ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・誤差=|測定−理論|/理論×100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・浮遊インダクタンスを差引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・巻きの密着度で L が変化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6858000" cy="45720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16752"/>
            <a:ext cx="6583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8A6D00"/>
                </a:solidFill>
                <a:latin typeface="Meiryo"/>
              </a:rPr>
              <a:t>【要記入】実測値をここに差し込み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3 / INDUCTOR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実験3-2：トロイダルコア ― 巻数 N とインダクタンス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5486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61395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コアに通した回数 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測定 L [μH]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0（線のみ）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Meiryo"/>
                        </a:defRPr>
                      </a:pPr>
                      <a:r>
                        <a:t>【要記入】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417320"/>
            <a:ext cx="50292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7D32"/>
                </a:solidFill>
                <a:latin typeface="Meiryo"/>
              </a:rPr>
              <a:t>グラフ枠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"/>
              </a:rPr>
              <a:t>【要差込】N（横軸）vs L（縦軸）の散布図/折れ線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F355E"/>
                </a:solidFill>
                <a:latin typeface="Meiryo"/>
              </a:rPr>
              <a:t>予想：L ∝ N²（巻数の2乗に比例）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eiryo"/>
              </a:rPr>
              <a:t>→ データが N² に乗るか確認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377440"/>
            <a:ext cx="4754880" cy="3108960"/>
          </a:xfrm>
          <a:prstGeom prst="rect">
            <a:avLst/>
          </a:prstGeom>
          <a:solidFill>
            <a:srgbClr val="EEF3EE"/>
          </a:solidFill>
          <a:ln>
            <a:solidFill>
              <a:srgbClr val="BBCC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749039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eiryo"/>
              </a:rPr>
              <a:t>（ここにグラフ画像を貼付）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E6CC"/>
                </a:solidFill>
                <a:latin typeface="Meiryo"/>
              </a:rPr>
              <a:t>EXPERIMENT 3 /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実験3：考察 ― 理論との差とトロイダルコイル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2E7D32"/>
                </a:solidFill>
                <a:latin typeface="Meiryo"/>
              </a:rPr>
              <a:t>■ ボビンコイル（実験3-1）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測定値と理論値の差の要因：巻きの密着度・実効ソレノイド長 ℓ の読み取り・端効果・浮遊成分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6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2E7D32"/>
                </a:solidFill>
                <a:latin typeface="Meiryo"/>
              </a:rPr>
              <a:t>■ トロイダルコイル（実験3-2）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磁束がコア内に閉じ込められ漏れが少ない → 同じ巻数でも空心より大きな L が得られる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L は巻数 N の2乗に比例（L ∝ N²）。測定データが N² 則に従うか検証する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・ 高透磁率コアでインダクタンスを稼げる＝小型化に有利。外部磁界の影響も受けにくい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8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1F355E"/>
                </a:solidFill>
                <a:latin typeface="Meiryo"/>
              </a:rPr>
              <a:t>→ 空心ソレノイドとトロイダルの比較から「磁心の役割」を確認できた【データで補強】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全体考察・まとめ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"/>
              </a:rPr>
              <a:t>■ 抵抗 R：値は材料の抵抗率 ρ と形状（長さ L・断面積 S）で決まる（R = ρL/S）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1F7799"/>
                </a:solidFill>
                <a:latin typeface="Meiryo"/>
              </a:rPr>
              <a:t>■ コンデンサ C：C = εS/d。面積を大きく・間隔を小さく・誘電率を高くすると容量増加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2E7D32"/>
                </a:solidFill>
                <a:latin typeface="Meiryo"/>
              </a:rPr>
              <a:t>■ インダクタ L：巻数・形状・磁心で決まる。トロイダルは漏れが少なく L ∝ N²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0">
                <a:solidFill>
                  <a:srgbClr val="222222"/>
                </a:solidFill>
                <a:latin typeface="Meiryo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1F355E"/>
                </a:solidFill>
                <a:latin typeface="Meiryo"/>
              </a:rPr>
              <a:t>■ 共通して学んだこと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・ 「自作」することで各素子の値を決める物理量（ρ, ε, μ／形状）を体感的に理解できた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・ 理論値と測定値の差から、製作精度（密着度・短絡・端効果）と測定の注意点を把握した</a:t>
            </a:r>
          </a:p>
          <a:p>
            <a:pPr algn="l" lvl="1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eiryo"/>
              </a:rPr>
              <a:t>・ LCRメータでは浮遊インダクタンスの補正が必要であることを確認した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[1] 実験テキスト「第3章 受動部品の種類と製作」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[2] 配布資料「受動部品の種類と製作」（講義スライド）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Meiryo"/>
              </a:rPr>
              <a:t>[3] 「LCRメータの使い方」（Keysight U1731C/U1732C/U1733C, DE-5000, Proster PST077）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555555"/>
                </a:solidFill>
                <a:latin typeface="Meiryo"/>
              </a:rPr>
              <a:t>[4] 【要追記】参考にした書籍・Webページ（抵抗器・コンデンサの分類で WEB検索した出典）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Meiry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